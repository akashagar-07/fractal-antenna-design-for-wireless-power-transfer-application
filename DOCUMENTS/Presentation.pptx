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FRACTAL ANTENNA DESIGN FOR WIRELESS POWER TRANSFER APPLICATION</a:t>
            </a:r>
          </a:p>
          <a:p>
            <a:pPr algn="l">
              <a:defRPr sz="1800">
                <a:solidFill>
                  <a:srgbClr val="8B5CF6"/>
                </a:solidFill>
                <a:latin typeface="Arial"/>
              </a:defRPr>
            </a:pPr>
            <a:r>
              <a:t>Hexagonal Fractal Microstrip Patch Antenna at 2.4 GHz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E2E8F0"/>
                </a:solidFill>
                <a:latin typeface="Arial"/>
              </a:defRPr>
            </a:pPr>
            <a:r>
              <a:t>Submitted by:</a:t>
            </a:r>
            <a:br/>
            <a:r>
              <a:t>Akash V (710723106007) | Christina Joyce J (710723106019) | Gokul Midhun M N (710723106031)</a:t>
            </a:r>
          </a:p>
          <a:p>
            <a:br/>
            <a:pPr algn="l">
              <a:defRPr sz="1100">
                <a:solidFill>
                  <a:srgbClr val="94A3B8"/>
                </a:solidFill>
                <a:latin typeface="Arial"/>
              </a:defRPr>
            </a:pPr>
            <a:r>
              <a:t>Dr. N.G.P. Institute of Technology</a:t>
            </a:r>
            <a:br/>
            <a:r>
              <a:t>Department of Electronics and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Project Motivation &amp;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Need for Compact WPT: Wireless Power Transfer (WPT) is essential for next-gen low-power sensors, IoT devices, and biomedical implants where replacing batteries is difficult.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Limitations of Conventional Antennas: Traditional microstrip patch antennas suffer from narrow bandwidths and relatively large physical dimensions.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Project Objective: Design, simulate, and fabricate a regular hexagonal microstrip patch antenna that utilizes fractal geometry to decrease overall footprint while maintaining exceptional return loss (S11) at the 2.4 GHz ISM band.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Microstrip Patch Antenna Equations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To calculate standard patch dimensions (Width W and Length L):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Courier New"/>
              </a:defRPr>
            </a:pPr>
            <a:r>
              <a:t>• Width (W): W = (v0 / (2 * f0)) * sqrt(2 / (er + 1))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Courier New"/>
              </a:defRPr>
            </a:pPr>
            <a:r>
              <a:t>• Effective Dielectric Constant (eeff): eeff = (er+1)/2 + ((er-1)/2) * [1 + 12*h/W]^(-1/2)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Courier New"/>
              </a:defRPr>
            </a:pPr>
            <a:r>
              <a:t>• Length Extension (dL): dL = 0.412h * ((eeff + 0.3) * (W/h + 0.264)) / ((eeff - 0.258) * (W/h + 0.8))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Courier New"/>
              </a:defRPr>
            </a:pPr>
            <a:r>
              <a:t>• Physical Resonant Length (L): L = (v0 / (2 * f0 * sqrt(eeff))) - 2 * dL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rial"/>
              </a:defRPr>
            </a:pPr>
            <a:r>
              <a:t>Where: v0 = 3e8 m/s, f0 = 2.4 GHz, er = 4.4 (FR-4 substrate), h = 1.575 mm.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Regular Hexagonal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The rectangular patch is converted to a regular hexagon by equating areas.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Hexagonal Patch Area: Area = 3 * sqrt(3) / 2 * s^2 ≈ 2.598 * s^2 (where s is side length/radius).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Equivalent Circular Patch Radius (ae): ae = s * sqrt(3 * sqrt(3) / (2 * pi)) ≈ 0.9094 * s.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Resonance Equation of Circular Patch: f0 = 1.8412 * v0 / (2 * pi * ae * sqrt(er)).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  <a:latin typeface="Arial"/>
              </a:defRPr>
            </a:pPr>
            <a:r>
              <a:t>• Substituting f0 = 2.4 GHz, er = 4.4, yields the initial hexagonal patch radius e = 17.39 mm.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Fractal Geometry &amp; Iterations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Fractal Geometry (Self-Similarity): Subtracting nested shapes increases the current flow perimeter (electrical length), shifting resonance lower and shrinking physical dimensions.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Iteration 0: Solid Hexagonal patch. Radius = 17.39 mm. Resonance is high and uncalibrated.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Iteration 1: Central hexagonal slot is subtracted (scale factor k1 = 1/3, radius = 5.8 mm). Current is forced around the slot, lowering the resonance frequency.</a:t>
            </a:r>
          </a:p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Iteration 2 (Proposed): Six smaller hexagonal slots are subtracted along the outer vertices (scale factor k2 = 1/9, radius = 1.93 mm). This introduces capacitive loading and improves impedance 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Material Specs &amp;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Substrate: FR-4 Glass Epoxy, thickness = 1.575 mm, dielectric constant er = 4.4.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Conductive Layers: Copper foil, patch thickness = 0.05 mm, ground thickness = 0.07 mm.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Substrate Dimensions (Length × Width): 49.41 mm × 41.69 mm.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Microstrip Feedline: Length = 6.64 mm, Width = 3.00 mm (matched to 50 ohms).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RF Port Interface: 50-ohm Edge-mount Female SMA connector soldered directly to feedline.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HFSS Simulation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Return Loss (S11): Achieves a deep simulated dip of -44.0 dB at 2.40 GHz. This implies that 99.996% of the incident power is accepted by the patch, with only 0.004% reflected.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VSWR: Measured to be 1.13 at resonance. Well below the typical acceptable limit of 2.0, indicating near-perfect impedance matching.</a:t>
            </a:r>
          </a:p>
          <a:p>
            <a:pPr>
              <a:spcAft>
                <a:spcPts val="12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Bandwidth: 10-dB impedance bandwidth is approximately 120 MHz (ranging from 2.34 GHz to 2.46 GHz), giving sufficient tolerance for fabrication inaccuracies.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Radiation Patterns &amp; Compactness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E-Plane Pattern: Symmetrical bidirectional profile centered perpendicular to the patch.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H-Plane Pattern: Near-omnidirectional profile in the azimuth plane, allowing flexible power transfer angles.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Realized Gain: Peak broadside realized gain is simulated to be 2.1 dBi.</a:t>
            </a:r>
          </a:p>
          <a:p>
            <a:pPr>
              <a:spcAft>
                <a:spcPts val="1000"/>
              </a:spcAft>
              <a:defRPr sz="1600">
                <a:solidFill>
                  <a:srgbClr val="475569"/>
                </a:solidFill>
                <a:latin typeface="Arial"/>
              </a:defRPr>
            </a:pPr>
            <a:r>
              <a:t>• Size Reduction: Implementing the regular hexagon with Iteration-2 slots achieves a 32% physical area footprint reduction compared to conventional rectangular patches at 2.4 GHz.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Advantages, Applications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✔ Key Advantages: 32% footprint reduction, exceptional return loss (-44 dB), low VSWR (1.13), and directional/omnidirectional radiation profiles.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✔ WPT Applications: Ideal for integration with rectifying diodes (forming a rectenna) to wireless harvest RF power in smart homes, sensor nodes, and implants.</a:t>
            </a:r>
          </a:p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✔ Conclusion: A highly compact, high-efficiency antenna design successfully modeled, simulated in HFSS, and validated through hardware prototype measurement.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